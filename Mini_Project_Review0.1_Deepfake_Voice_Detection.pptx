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8636A-875E-4642-971D-D9E1C83917E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FCE74-2811-CA4F-868E-5C54E2C0A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07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303520" cy="530352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480560"/>
            <a:ext cx="3108960" cy="310896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REVIEW — 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Deepfake Voice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272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AI-Cloned and Synthetic Audio Using Machine Learning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833622"/>
            <a:ext cx="94640" cy="15087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3758184"/>
            <a:ext cx="94640" cy="30175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3682746"/>
            <a:ext cx="94640" cy="45262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179576" y="3783330"/>
            <a:ext cx="94640" cy="25146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3720465"/>
            <a:ext cx="94640" cy="37719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0200" y="3657600"/>
            <a:ext cx="94640" cy="50292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0512" y="3795903"/>
            <a:ext cx="94640" cy="226314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20824" y="3745611"/>
            <a:ext cx="94640" cy="32689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2231136" y="3821049"/>
            <a:ext cx="94640" cy="17602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1448" y="3707892"/>
            <a:ext cx="94640" cy="40233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2651760" y="3770757"/>
            <a:ext cx="94640" cy="27660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862072" y="3670173"/>
            <a:ext cx="94640" cy="477774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3072384" y="3808476"/>
            <a:ext cx="94640" cy="20116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3282696" y="3733038"/>
            <a:ext cx="94640" cy="352044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3493008" y="3758184"/>
            <a:ext cx="94640" cy="30175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3703320" y="3833622"/>
            <a:ext cx="94640" cy="15087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3913632" y="3695319"/>
            <a:ext cx="94640" cy="42748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4123944" y="3783330"/>
            <a:ext cx="94640" cy="25146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4334256" y="3745611"/>
            <a:ext cx="94640" cy="32689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44568" y="3808476"/>
            <a:ext cx="94640" cy="201168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300" i="1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1 (</a:t>
            </a:r>
            <a:r>
              <a:rPr lang="en-IN" sz="1300" i="1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</a:t>
            </a:r>
            <a:r>
              <a:rPr lang="en-IN" sz="1300" i="1" dirty="0" err="1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Yuhan</a:t>
            </a:r>
            <a:r>
              <a:rPr lang="en-US" sz="1300" i="1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.), Name 2 (</a:t>
            </a:r>
            <a:r>
              <a:rPr lang="en-IN" sz="1300" i="1" dirty="0" err="1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Akramullah</a:t>
            </a:r>
            <a:r>
              <a:rPr lang="en-US" sz="1300" i="1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Name 3 (</a:t>
            </a:r>
            <a:r>
              <a:rPr lang="en-IN" sz="1300" i="1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</a:t>
            </a:r>
            <a:r>
              <a:rPr lang="en-IN" sz="1300" i="1" dirty="0" err="1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Afeef</a:t>
            </a:r>
            <a:r>
              <a:rPr lang="en-US" sz="1300" i="1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i="1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00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300" i="1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Name, Designation</a:t>
            </a:r>
            <a:endParaRPr lang="en-US" sz="1300" i="1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166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r>
              <a:rPr lang="en-IN" sz="130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Computer Science and Engineering</a:t>
            </a:r>
            <a:r>
              <a:rPr lang="en-US" sz="130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College Name</a:t>
            </a:r>
            <a:r>
              <a:rPr lang="en-IN" sz="130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CAHCET 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7040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Voice-cloning tools can now recreate a person's voice from just a few seconds of audio.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an audio clip and classifies it as Real (human) or Fake (AI-generated).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features — MFCC, spectrogram, and pitch patterns — are extracted from the signal.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classifier predicts authenticity and returns a confidence score.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Python, Librosa for audio processing, and a CNN / SVM classifier.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75320" y="1481328"/>
            <a:ext cx="3364992" cy="4828032"/>
          </a:xfrm>
          <a:prstGeom prst="roundRect">
            <a:avLst>
              <a:gd name="adj" fmla="val 3261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49640" y="175564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2304288"/>
            <a:ext cx="281635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Audio Forensics / AI Security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Real vs. AI-cloned voice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Verdict + confidence score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Python, Librosa, TensorFlow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1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391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Cloning Is Easy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774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can mimic a person's voice from a few seconds of sample audio.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8745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1FB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0391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in Real Scams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voices power fraud calls, impersonation, and fake voice messages.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1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7307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Undetectable by Ear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690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struggle to tell a natural voice apart from a synthetic one.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35661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1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7307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Content-Level Check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0690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fraud checks verify the number, not whether the voice itself is real.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B1F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458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 </a:t>
            </a:r>
            <a:r>
              <a:rPr lang="en-US" sz="1400" dirty="0">
                <a:solidFill>
                  <a:srgbClr val="DC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system that flags cloned / synthetic audio before it causes harm.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74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 audio clip as Real or Fake (AI-generated) with high accuracy.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15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acoustic features that reliably distinguish natural from synthetic speech.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5701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a machine learning model on labeled voice datasets.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44439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9826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confidence score alongside every prediction, not just a label.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5285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2395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interface to upload or record audio and get instant results.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1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Judgment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tries to detect fakes by ear — highly unreliable.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8745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1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Caller ID Verification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4688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phone number, not whether the voice itself is genuine.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1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749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Watermarking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605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works if the fake was marked at creation — misses new cloning tools.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35661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1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3749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Moderation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41605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platforms flag deepfakes after upload, not in real time.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458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 </a:t>
            </a: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preventive — no analysis of the audio content itself, easily bypassed.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7040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or records an audio clip through a simple interface.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preprocesses the audio — noise removal, normalization, framing.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pulls out MFCC, spectrogram, and pitch-based features.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classifier (CNN / SVM) predicts Real or Fake with a confidence score.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shown instantly with a clear, explainable summary.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62356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99616" y="562356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99616" y="562356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562356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54680" y="562356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09744" y="5623560"/>
            <a:ext cx="1892808" cy="384048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9744" y="562356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67144" y="562356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67144" y="5623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75320" y="1481328"/>
            <a:ext cx="3364992" cy="4828032"/>
          </a:xfrm>
          <a:prstGeom prst="roundRect">
            <a:avLst>
              <a:gd name="adj" fmla="val 3261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49640" y="175564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304288"/>
            <a:ext cx="281635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 voice itself, not metadata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hardware needed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recorded or live clip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not just a yes/no verdict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BREAKDOWN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084832" cy="3749040"/>
          </a:xfrm>
          <a:prstGeom prst="roundRect">
            <a:avLst>
              <a:gd name="adj" fmla="val 4386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945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Input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49040"/>
            <a:ext cx="1719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file/mic input; denoise and normalize the signal.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16352" y="1965960"/>
            <a:ext cx="2084832" cy="3749040"/>
          </a:xfrm>
          <a:prstGeom prst="roundRect">
            <a:avLst>
              <a:gd name="adj" fmla="val 4386"/>
            </a:avLst>
          </a:prstGeom>
          <a:solidFill>
            <a:srgbClr val="3A86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99232" y="21945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283464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3749040"/>
            <a:ext cx="1719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MFCC, spectrogram, and pitch/formant features.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84064" y="1965960"/>
            <a:ext cx="2084832" cy="3749040"/>
          </a:xfrm>
          <a:prstGeom prst="roundRect">
            <a:avLst>
              <a:gd name="adj" fmla="val 4386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66944" y="21945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266944" y="283464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66944" y="3749040"/>
            <a:ext cx="1719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classifier on labeled real vs. synthetic voice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51776" y="1965960"/>
            <a:ext cx="2084832" cy="3749040"/>
          </a:xfrm>
          <a:prstGeom prst="roundRect">
            <a:avLst>
              <a:gd name="adj" fmla="val 4386"/>
            </a:avLst>
          </a:prstGeom>
          <a:solidFill>
            <a:srgbClr val="3A86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34656" y="21945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534656" y="283464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34656" y="3749040"/>
            <a:ext cx="1719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trained model on new audio; output label + confidence.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19488" y="1965960"/>
            <a:ext cx="2084832" cy="3749040"/>
          </a:xfrm>
          <a:prstGeom prst="roundRect">
            <a:avLst>
              <a:gd name="adj" fmla="val 4386"/>
            </a:avLst>
          </a:prstGeom>
          <a:solidFill>
            <a:srgbClr val="1B1F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02368" y="21945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283464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802368" y="3749040"/>
            <a:ext cx="1719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verdict, confidence score, and waveform/spectrogram.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USE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EEF1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(audio processing)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TensorFlow-Keras (classifier)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Flask (interface)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87452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2148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Data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78892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E7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/ audio input device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E7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or PC (min. 8 GB RAM; GPU optional for training)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E7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real vs. synthetic audio dataset (e.g., ASVspoof)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E7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audio files (.wav / .mp3) for testing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/ Block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423160" y="2720340"/>
            <a:ext cx="384048" cy="0"/>
          </a:xfrm>
          <a:prstGeom prst="line">
            <a:avLst/>
          </a:prstGeom>
          <a:noFill/>
          <a:ln w="2540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07208" y="219456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3A86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19456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81728" y="2720340"/>
            <a:ext cx="384048" cy="0"/>
          </a:xfrm>
          <a:prstGeom prst="line">
            <a:avLst/>
          </a:prstGeom>
          <a:noFill/>
          <a:ln w="2540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65776" y="219456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3A86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65776" y="219456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40296" y="2720340"/>
            <a:ext cx="384048" cy="0"/>
          </a:xfrm>
          <a:prstGeom prst="line">
            <a:avLst/>
          </a:prstGeom>
          <a:noFill/>
          <a:ln w="2540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24344" y="219456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1B1F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24344" y="219456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98864" y="2720340"/>
            <a:ext cx="384048" cy="0"/>
          </a:xfrm>
          <a:prstGeom prst="line">
            <a:avLst/>
          </a:prstGeom>
          <a:noFill/>
          <a:ln w="2540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82912" y="219456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F5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82912" y="219456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61604" y="3246120"/>
            <a:ext cx="0" cy="777240"/>
          </a:xfrm>
          <a:prstGeom prst="line">
            <a:avLst/>
          </a:prstGeom>
          <a:noFill/>
          <a:ln w="2540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75604" y="40233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3A86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75604" y="4023360"/>
            <a:ext cx="20116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Voice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authentic, no alert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35924" y="40233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F5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35924" y="4023360"/>
            <a:ext cx="20116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Voice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as AI-generated + alert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H="1">
            <a:off x="6981444" y="3630168"/>
            <a:ext cx="1280160" cy="0"/>
          </a:xfrm>
          <a:prstGeom prst="line">
            <a:avLst/>
          </a:prstGeom>
          <a:noFill/>
          <a:ln w="1905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61604" y="3630168"/>
            <a:ext cx="1280160" cy="0"/>
          </a:xfrm>
          <a:prstGeom prst="line">
            <a:avLst/>
          </a:prstGeom>
          <a:noFill/>
          <a:ln w="1905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81444" y="3630168"/>
            <a:ext cx="0" cy="393192"/>
          </a:xfrm>
          <a:prstGeom prst="line">
            <a:avLst/>
          </a:prstGeom>
          <a:noFill/>
          <a:ln w="1905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41764" y="3630168"/>
            <a:ext cx="0" cy="393192"/>
          </a:xfrm>
          <a:prstGeom prst="line">
            <a:avLst/>
          </a:prstGeom>
          <a:noFill/>
          <a:ln w="1905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flows left to right through preprocessing, feature extraction, and classification; the verdict is logged and surfaced on the result dashboard.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Working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1F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396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Collection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69748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labeled real and AI-generated audio samples.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9080" y="2857500"/>
            <a:ext cx="228600" cy="0"/>
          </a:xfrm>
          <a:prstGeom prst="line">
            <a:avLst/>
          </a:prstGeom>
          <a:noFill/>
          <a:ln w="1905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9202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1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98848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9884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1396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69748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denoise, and normalize audio; split into frames.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2857500"/>
            <a:ext cx="228600" cy="0"/>
          </a:xfrm>
          <a:prstGeom prst="line">
            <a:avLst/>
          </a:prstGeom>
          <a:noFill/>
          <a:ln w="1905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46720" y="19202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1FB"/>
          </a:solidFill>
          <a:ln/>
        </p:spPr>
      </p:sp>
      <p:sp>
        <p:nvSpPr>
          <p:cNvPr id="18" name="Shape 16"/>
          <p:cNvSpPr/>
          <p:nvPr/>
        </p:nvSpPr>
        <p:spPr>
          <a:xfrm>
            <a:off x="8247888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4788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21396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269748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MFCCs, spectrograms, and pitch contours per frame.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1FB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4270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885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84632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validate a classifier (CNN / SVM) on the features.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69080" y="5006340"/>
            <a:ext cx="228600" cy="0"/>
          </a:xfrm>
          <a:prstGeom prst="line">
            <a:avLst/>
          </a:prstGeom>
          <a:noFill/>
          <a:ln w="1905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9768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1FB"/>
          </a:solidFill>
          <a:ln/>
        </p:spPr>
      </p:sp>
      <p:sp>
        <p:nvSpPr>
          <p:cNvPr id="29" name="Shape 27"/>
          <p:cNvSpPr/>
          <p:nvPr/>
        </p:nvSpPr>
        <p:spPr>
          <a:xfrm>
            <a:off x="4498848" y="4270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9884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42885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4498848" y="484632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new audio through the same pipeline to get a prediction.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18120" y="5006340"/>
            <a:ext cx="228600" cy="0"/>
          </a:xfrm>
          <a:prstGeom prst="line">
            <a:avLst/>
          </a:prstGeom>
          <a:noFill/>
          <a:ln w="19050">
            <a:solidFill>
              <a:srgbClr val="6B708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4672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1FB"/>
          </a:solidFill>
          <a:ln/>
        </p:spPr>
      </p:sp>
      <p:sp>
        <p:nvSpPr>
          <p:cNvPr id="35" name="Shape 33"/>
          <p:cNvSpPr/>
          <p:nvPr/>
        </p:nvSpPr>
        <p:spPr>
          <a:xfrm>
            <a:off x="8247888" y="4270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4788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823960" y="42885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247888" y="484632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Real / Fake verdict with confidence score and waveform.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3A86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391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~90-95%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706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(test set)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187452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0" y="20391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sec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7706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80960" y="187452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3A86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20391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7706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With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94760"/>
            <a:ext cx="10241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separation between natural and AI-cloned voice samples.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explainable verdict — not a black-box yes/no answer.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waveform/spectrogram to support the classifier's decision.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pipeline that can be retrained as new cloning tools emerge.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114800" cy="41148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0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F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Call Detection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963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 during phone / VoIP calls.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0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F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Extension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963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deepfake audio in videos and podcasts.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8745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04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7532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F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Accent Robustness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4963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detection across languages and accents.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0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40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F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System Integration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2793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banking / call-center fraud checks.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36576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0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840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F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2793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On-the-go voice verification for everyday users.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36576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0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75320" y="3840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F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Retraining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2793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pace with newly released cloning tools.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Librosa Documentation — https://librosa.org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ASVspoof Challenge Dataset &amp; Papers — https://www.asvspoof.org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TensorFlow / Keras Documentation — https://www.tensorflow.org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Scikit-learn Documentation — https://scikit-learn.org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M. Todisco et al., “ASVspoof 2019: Future Horizons in Spoofed and Fake Audio Detection,” Interspeech 2019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7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Related work: IEEE Xplore — search “audio deepfake detection” for recent papers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 Detection System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akramullahtech@gmail.com</cp:lastModifiedBy>
  <cp:revision>3</cp:revision>
  <dcterms:created xsi:type="dcterms:W3CDTF">2026-09-06T16:16:37Z</dcterms:created>
  <dcterms:modified xsi:type="dcterms:W3CDTF">2026-09-10T03:40:42Z</dcterms:modified>
</cp:coreProperties>
</file>